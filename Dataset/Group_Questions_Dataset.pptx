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2" roundtripDataSignature="AMtx7miz4MR/nImPeq+AgRWZuqlGnwfkX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2" Type="http://customschemas.google.com/relationships/presentationmetadata" Target="metadata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Welcome students. Today you will each receive this dataset. Walk through these slides as a group before they break into teams. Slide 1: Set the stage. Each team will do their own analysis and build a presentation.</a:t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" name="Google Shape;33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Walk students through each column. Emphasise the distinction between TEXT (categorical) and NUMBER (numerical) columns. Key teaching point: you can count and group text columns; you do maths (average, sum, min/max) on number columns.</a:t>
            </a:r>
            <a:endParaRPr/>
          </a:p>
        </p:txBody>
      </p:sp>
      <p:sp>
        <p:nvSpPr>
          <p:cNvPr id="34" name="Google Shape;34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ef3ac6477c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" name="Google Shape;88;g3ef3ac6477c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9" name="Google Shape;89;g3ef3ac6477c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ef5a731375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" name="Google Shape;94;g3ef5a731375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5" name="Google Shape;95;g3ef5a731375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ef5a731375_0_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" name="Google Shape;101;g3ef5a731375_0_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2" name="Google Shape;102;g3ef5a731375_0_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ef5a731375_0_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8" name="Google Shape;108;g3ef5a731375_0_1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9" name="Google Shape;109;g3ef5a731375_0_1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5" name="Google Shape;115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This is the rubric slide — leave it up while groups are working so they can refer to it. Emphasise: the insight sentence is the most important part. Anyone can make a bar chart; the mark comes from explaining what it means.</a:t>
            </a:r>
            <a:endParaRPr/>
          </a:p>
        </p:txBody>
      </p:sp>
      <p:sp>
        <p:nvSpPr>
          <p:cNvPr id="116" name="Google Shape;116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2744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6217920" y="-1097280"/>
            <a:ext cx="4572000" cy="4572000"/>
          </a:xfrm>
          <a:prstGeom prst="ellipse">
            <a:avLst/>
          </a:prstGeom>
          <a:solidFill>
            <a:srgbClr val="2E4A80">
              <a:alpha val="40000"/>
            </a:srgbClr>
          </a:solidFill>
          <a:ln cap="flat" cmpd="sng" w="12700">
            <a:solidFill>
              <a:srgbClr val="2E4A80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7132320" y="2286000"/>
            <a:ext cx="2743200" cy="2743200"/>
          </a:xfrm>
          <a:prstGeom prst="ellipse">
            <a:avLst/>
          </a:prstGeom>
          <a:solidFill>
            <a:srgbClr val="E8A020">
              <a:alpha val="25098"/>
            </a:srgbClr>
          </a:solidFill>
          <a:ln cap="flat" cmpd="sng" w="12700">
            <a:solidFill>
              <a:srgbClr val="E8A020">
                <a:alpha val="2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548640" y="914400"/>
            <a:ext cx="2011680" cy="320040"/>
          </a:xfrm>
          <a:prstGeom prst="roundRect">
            <a:avLst>
              <a:gd fmla="val 51429" name="adj"/>
            </a:avLst>
          </a:prstGeom>
          <a:solidFill>
            <a:srgbClr val="E8A020"/>
          </a:solidFill>
          <a:ln cap="flat" cmpd="sng" w="12700">
            <a:solidFill>
              <a:srgbClr val="E8A0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548640" y="914400"/>
            <a:ext cx="2011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744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1A2744"/>
                </a:solidFill>
                <a:latin typeface="Arial"/>
                <a:ea typeface="Arial"/>
                <a:cs typeface="Arial"/>
                <a:sym typeface="Arial"/>
              </a:rPr>
              <a:t>🛒  DATA WORKSHOP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548640" y="1417320"/>
            <a:ext cx="68580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Cambria"/>
              <a:buNone/>
            </a:pPr>
            <a:r>
              <a:rPr b="1" i="0" lang="en-US" sz="4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Supermarket Sales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Cambria"/>
              <a:buNone/>
            </a:pPr>
            <a:r>
              <a:rPr b="1" i="0" lang="en-US" sz="4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Dataset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548640" y="333756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9BB8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8A9BB8"/>
                </a:solidFill>
                <a:latin typeface="Arial"/>
                <a:ea typeface="Arial"/>
                <a:cs typeface="Arial"/>
                <a:sym typeface="Arial"/>
              </a:rPr>
              <a:t>What's in the data · How to analyse it · What to present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548640" y="4023360"/>
            <a:ext cx="1920240" cy="822960"/>
          </a:xfrm>
          <a:prstGeom prst="roundRect">
            <a:avLst>
              <a:gd fmla="val 13333" name="adj"/>
            </a:avLst>
          </a:prstGeom>
          <a:solidFill>
            <a:srgbClr val="2E4A80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548640" y="4069080"/>
            <a:ext cx="1920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A020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E8A020"/>
                </a:solidFill>
                <a:latin typeface="Cambria"/>
                <a:ea typeface="Cambria"/>
                <a:cs typeface="Cambria"/>
                <a:sym typeface="Cambria"/>
              </a:rPr>
              <a:t>1,000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548640" y="4407408"/>
            <a:ext cx="1920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Sales Records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2834640" y="4023360"/>
            <a:ext cx="1920240" cy="822960"/>
          </a:xfrm>
          <a:prstGeom prst="roundRect">
            <a:avLst>
              <a:gd fmla="val 13333" name="adj"/>
            </a:avLst>
          </a:prstGeom>
          <a:solidFill>
            <a:srgbClr val="2E4A80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1"/>
          <p:cNvSpPr/>
          <p:nvPr/>
        </p:nvSpPr>
        <p:spPr>
          <a:xfrm>
            <a:off x="2834640" y="4069080"/>
            <a:ext cx="1920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A020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E8A020"/>
                </a:solidFill>
                <a:latin typeface="Cambria"/>
                <a:ea typeface="Cambria"/>
                <a:cs typeface="Cambria"/>
                <a:sym typeface="Cambria"/>
              </a:rPr>
              <a:t>8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1"/>
          <p:cNvSpPr/>
          <p:nvPr/>
        </p:nvSpPr>
        <p:spPr>
          <a:xfrm>
            <a:off x="2834640" y="4407408"/>
            <a:ext cx="1920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Columns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1"/>
          <p:cNvSpPr/>
          <p:nvPr/>
        </p:nvSpPr>
        <p:spPr>
          <a:xfrm>
            <a:off x="5120640" y="4023360"/>
            <a:ext cx="1920240" cy="822960"/>
          </a:xfrm>
          <a:prstGeom prst="roundRect">
            <a:avLst>
              <a:gd fmla="val 13333" name="adj"/>
            </a:avLst>
          </a:prstGeom>
          <a:solidFill>
            <a:srgbClr val="2E4A80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29;p1"/>
          <p:cNvSpPr/>
          <p:nvPr/>
        </p:nvSpPr>
        <p:spPr>
          <a:xfrm>
            <a:off x="5120640" y="4069080"/>
            <a:ext cx="1920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A020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E8A020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1"/>
          <p:cNvSpPr/>
          <p:nvPr/>
        </p:nvSpPr>
        <p:spPr>
          <a:xfrm>
            <a:off x="5120640" y="4407408"/>
            <a:ext cx="1920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Cities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A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744"/>
          </a:solidFill>
          <a:ln cap="flat" cmpd="sng" w="12700">
            <a:solidFill>
              <a:srgbClr val="1A27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457200" y="91440"/>
            <a:ext cx="8229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📊  What's in the Dataset?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228600" y="1097280"/>
            <a:ext cx="4114800" cy="749808"/>
          </a:xfrm>
          <a:prstGeom prst="roundRect">
            <a:avLst>
              <a:gd fmla="val 14634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338328" y="1207008"/>
            <a:ext cx="4572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🏙️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3566160" y="1298448"/>
            <a:ext cx="658368" cy="219456"/>
          </a:xfrm>
          <a:prstGeom prst="roundRect">
            <a:avLst>
              <a:gd fmla="val 50000" name="adj"/>
            </a:avLst>
          </a:prstGeom>
          <a:solidFill>
            <a:srgbClr val="2E4A80"/>
          </a:solidFill>
          <a:ln cap="flat" cmpd="sng" w="12700">
            <a:solidFill>
              <a:srgbClr val="2E4A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3566160" y="1298448"/>
            <a:ext cx="65836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Text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868680" y="1170432"/>
            <a:ext cx="2651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744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1A2744"/>
                </a:solidFill>
                <a:latin typeface="Cambria"/>
                <a:ea typeface="Cambria"/>
                <a:cs typeface="Cambria"/>
                <a:sym typeface="Cambria"/>
              </a:rPr>
              <a:t>City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868680" y="1444752"/>
            <a:ext cx="2697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Which store?  Yangon · Naypyitaw · Mandalay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228600" y="1947672"/>
            <a:ext cx="4114800" cy="749808"/>
          </a:xfrm>
          <a:prstGeom prst="roundRect">
            <a:avLst>
              <a:gd fmla="val 14634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338328" y="2057400"/>
            <a:ext cx="4572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👤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3566160" y="2148840"/>
            <a:ext cx="658368" cy="219456"/>
          </a:xfrm>
          <a:prstGeom prst="roundRect">
            <a:avLst>
              <a:gd fmla="val 50000" name="adj"/>
            </a:avLst>
          </a:prstGeom>
          <a:solidFill>
            <a:srgbClr val="2E4A80"/>
          </a:solidFill>
          <a:ln cap="flat" cmpd="sng" w="12700">
            <a:solidFill>
              <a:srgbClr val="2E4A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3566160" y="2148840"/>
            <a:ext cx="65836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Text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868680" y="2020824"/>
            <a:ext cx="2651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744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1A2744"/>
                </a:solidFill>
                <a:latin typeface="Cambria"/>
                <a:ea typeface="Cambria"/>
                <a:cs typeface="Cambria"/>
                <a:sym typeface="Cambria"/>
              </a:rPr>
              <a:t>Customer type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868680" y="2295144"/>
            <a:ext cx="2697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Is this a Member or Normal (guest) shopper?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228600" y="2798064"/>
            <a:ext cx="4114800" cy="749808"/>
          </a:xfrm>
          <a:prstGeom prst="roundRect">
            <a:avLst>
              <a:gd fmla="val 14634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338328" y="2907792"/>
            <a:ext cx="4572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⚥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2"/>
          <p:cNvSpPr/>
          <p:nvPr/>
        </p:nvSpPr>
        <p:spPr>
          <a:xfrm>
            <a:off x="3566160" y="2999232"/>
            <a:ext cx="658368" cy="219456"/>
          </a:xfrm>
          <a:prstGeom prst="roundRect">
            <a:avLst>
              <a:gd fmla="val 50000" name="adj"/>
            </a:avLst>
          </a:prstGeom>
          <a:solidFill>
            <a:srgbClr val="2E4A80"/>
          </a:solidFill>
          <a:ln cap="flat" cmpd="sng" w="12700">
            <a:solidFill>
              <a:srgbClr val="2E4A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2"/>
          <p:cNvSpPr/>
          <p:nvPr/>
        </p:nvSpPr>
        <p:spPr>
          <a:xfrm>
            <a:off x="3566160" y="2999232"/>
            <a:ext cx="65836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Text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2"/>
          <p:cNvSpPr/>
          <p:nvPr/>
        </p:nvSpPr>
        <p:spPr>
          <a:xfrm>
            <a:off x="868680" y="2871216"/>
            <a:ext cx="2651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744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1A2744"/>
                </a:solidFill>
                <a:latin typeface="Cambria"/>
                <a:ea typeface="Cambria"/>
                <a:cs typeface="Cambria"/>
                <a:sym typeface="Cambria"/>
              </a:rPr>
              <a:t>Gender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2"/>
          <p:cNvSpPr/>
          <p:nvPr/>
        </p:nvSpPr>
        <p:spPr>
          <a:xfrm>
            <a:off x="868680" y="3145536"/>
            <a:ext cx="2697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Female or Male — useful for comparisons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2"/>
          <p:cNvSpPr/>
          <p:nvPr/>
        </p:nvSpPr>
        <p:spPr>
          <a:xfrm>
            <a:off x="228600" y="3648456"/>
            <a:ext cx="4114800" cy="749808"/>
          </a:xfrm>
          <a:prstGeom prst="roundRect">
            <a:avLst>
              <a:gd fmla="val 14634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2"/>
          <p:cNvSpPr/>
          <p:nvPr/>
        </p:nvSpPr>
        <p:spPr>
          <a:xfrm>
            <a:off x="338328" y="3758184"/>
            <a:ext cx="4572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🏷️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2"/>
          <p:cNvSpPr/>
          <p:nvPr/>
        </p:nvSpPr>
        <p:spPr>
          <a:xfrm>
            <a:off x="3566160" y="3849624"/>
            <a:ext cx="658368" cy="219456"/>
          </a:xfrm>
          <a:prstGeom prst="roundRect">
            <a:avLst>
              <a:gd fmla="val 50000" name="adj"/>
            </a:avLst>
          </a:prstGeom>
          <a:solidFill>
            <a:srgbClr val="2E4A80"/>
          </a:solidFill>
          <a:ln cap="flat" cmpd="sng" w="12700">
            <a:solidFill>
              <a:srgbClr val="2E4A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2"/>
          <p:cNvSpPr/>
          <p:nvPr/>
        </p:nvSpPr>
        <p:spPr>
          <a:xfrm>
            <a:off x="3566160" y="3849624"/>
            <a:ext cx="65836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Text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2"/>
          <p:cNvSpPr/>
          <p:nvPr/>
        </p:nvSpPr>
        <p:spPr>
          <a:xfrm>
            <a:off x="868680" y="3721608"/>
            <a:ext cx="2651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744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1A2744"/>
                </a:solidFill>
                <a:latin typeface="Cambria"/>
                <a:ea typeface="Cambria"/>
                <a:cs typeface="Cambria"/>
                <a:sym typeface="Cambria"/>
              </a:rPr>
              <a:t>Product line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2"/>
          <p:cNvSpPr/>
          <p:nvPr/>
        </p:nvSpPr>
        <p:spPr>
          <a:xfrm>
            <a:off x="868680" y="3995928"/>
            <a:ext cx="2697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6 categories: Food, Fashion, Electronics …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2"/>
          <p:cNvSpPr/>
          <p:nvPr/>
        </p:nvSpPr>
        <p:spPr>
          <a:xfrm>
            <a:off x="4663440" y="1097280"/>
            <a:ext cx="4114800" cy="749808"/>
          </a:xfrm>
          <a:prstGeom prst="roundRect">
            <a:avLst>
              <a:gd fmla="val 14634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2"/>
          <p:cNvSpPr/>
          <p:nvPr/>
        </p:nvSpPr>
        <p:spPr>
          <a:xfrm>
            <a:off x="4773168" y="1207008"/>
            <a:ext cx="4572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🔢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2"/>
          <p:cNvSpPr/>
          <p:nvPr/>
        </p:nvSpPr>
        <p:spPr>
          <a:xfrm>
            <a:off x="8001000" y="1298448"/>
            <a:ext cx="658368" cy="219456"/>
          </a:xfrm>
          <a:prstGeom prst="roundRect">
            <a:avLst>
              <a:gd fmla="val 50000" name="adj"/>
            </a:avLst>
          </a:prstGeom>
          <a:solidFill>
            <a:srgbClr val="0D8C8C"/>
          </a:solidFill>
          <a:ln cap="flat" cmpd="sng" w="12700">
            <a:solidFill>
              <a:srgbClr val="0D8C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2"/>
          <p:cNvSpPr/>
          <p:nvPr/>
        </p:nvSpPr>
        <p:spPr>
          <a:xfrm>
            <a:off x="8001000" y="1298448"/>
            <a:ext cx="65836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Number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2"/>
          <p:cNvSpPr/>
          <p:nvPr/>
        </p:nvSpPr>
        <p:spPr>
          <a:xfrm>
            <a:off x="5303520" y="1170432"/>
            <a:ext cx="2651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744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1A2744"/>
                </a:solidFill>
                <a:latin typeface="Cambria"/>
                <a:ea typeface="Cambria"/>
                <a:cs typeface="Cambria"/>
                <a:sym typeface="Cambria"/>
              </a:rPr>
              <a:t>Quantity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2"/>
          <p:cNvSpPr/>
          <p:nvPr/>
        </p:nvSpPr>
        <p:spPr>
          <a:xfrm>
            <a:off x="5303520" y="1444752"/>
            <a:ext cx="2697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How many items bought  (1 – 10)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2"/>
          <p:cNvSpPr/>
          <p:nvPr/>
        </p:nvSpPr>
        <p:spPr>
          <a:xfrm>
            <a:off x="4663440" y="1947672"/>
            <a:ext cx="4114800" cy="749808"/>
          </a:xfrm>
          <a:prstGeom prst="roundRect">
            <a:avLst>
              <a:gd fmla="val 14634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2"/>
          <p:cNvSpPr/>
          <p:nvPr/>
        </p:nvSpPr>
        <p:spPr>
          <a:xfrm>
            <a:off x="4773168" y="2057400"/>
            <a:ext cx="4572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💰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2"/>
          <p:cNvSpPr/>
          <p:nvPr/>
        </p:nvSpPr>
        <p:spPr>
          <a:xfrm>
            <a:off x="8001000" y="2148840"/>
            <a:ext cx="658368" cy="219456"/>
          </a:xfrm>
          <a:prstGeom prst="roundRect">
            <a:avLst>
              <a:gd fmla="val 50000" name="adj"/>
            </a:avLst>
          </a:prstGeom>
          <a:solidFill>
            <a:srgbClr val="0D8C8C"/>
          </a:solidFill>
          <a:ln cap="flat" cmpd="sng" w="12700">
            <a:solidFill>
              <a:srgbClr val="0D8C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2"/>
          <p:cNvSpPr/>
          <p:nvPr/>
        </p:nvSpPr>
        <p:spPr>
          <a:xfrm>
            <a:off x="8001000" y="2148840"/>
            <a:ext cx="65836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Number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2"/>
          <p:cNvSpPr/>
          <p:nvPr/>
        </p:nvSpPr>
        <p:spPr>
          <a:xfrm>
            <a:off x="5303520" y="2020824"/>
            <a:ext cx="2651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744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1A2744"/>
                </a:solidFill>
                <a:latin typeface="Cambria"/>
                <a:ea typeface="Cambria"/>
                <a:cs typeface="Cambria"/>
                <a:sym typeface="Cambria"/>
              </a:rPr>
              <a:t>Sales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2"/>
          <p:cNvSpPr/>
          <p:nvPr/>
        </p:nvSpPr>
        <p:spPr>
          <a:xfrm>
            <a:off x="5303520" y="2295144"/>
            <a:ext cx="2697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Total $ paid — your main metric  ($10 – $1,043)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2"/>
          <p:cNvSpPr/>
          <p:nvPr/>
        </p:nvSpPr>
        <p:spPr>
          <a:xfrm>
            <a:off x="4663440" y="2798064"/>
            <a:ext cx="4114800" cy="749808"/>
          </a:xfrm>
          <a:prstGeom prst="roundRect">
            <a:avLst>
              <a:gd fmla="val 14634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2"/>
          <p:cNvSpPr/>
          <p:nvPr/>
        </p:nvSpPr>
        <p:spPr>
          <a:xfrm>
            <a:off x="4773168" y="2907792"/>
            <a:ext cx="4572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💳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2"/>
          <p:cNvSpPr/>
          <p:nvPr/>
        </p:nvSpPr>
        <p:spPr>
          <a:xfrm>
            <a:off x="8001000" y="2999232"/>
            <a:ext cx="658368" cy="219456"/>
          </a:xfrm>
          <a:prstGeom prst="roundRect">
            <a:avLst>
              <a:gd fmla="val 50000" name="adj"/>
            </a:avLst>
          </a:prstGeom>
          <a:solidFill>
            <a:srgbClr val="2E4A80"/>
          </a:solidFill>
          <a:ln cap="flat" cmpd="sng" w="12700">
            <a:solidFill>
              <a:srgbClr val="2E4A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2"/>
          <p:cNvSpPr/>
          <p:nvPr/>
        </p:nvSpPr>
        <p:spPr>
          <a:xfrm>
            <a:off x="8001000" y="2999232"/>
            <a:ext cx="65836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Text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2"/>
          <p:cNvSpPr/>
          <p:nvPr/>
        </p:nvSpPr>
        <p:spPr>
          <a:xfrm>
            <a:off x="5303520" y="2871216"/>
            <a:ext cx="2651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744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1A2744"/>
                </a:solidFill>
                <a:latin typeface="Cambria"/>
                <a:ea typeface="Cambria"/>
                <a:cs typeface="Cambria"/>
                <a:sym typeface="Cambria"/>
              </a:rPr>
              <a:t>Payment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2"/>
          <p:cNvSpPr/>
          <p:nvPr/>
        </p:nvSpPr>
        <p:spPr>
          <a:xfrm>
            <a:off x="5303520" y="3145536"/>
            <a:ext cx="2697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Ewallet, Cash, or Credit card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2"/>
          <p:cNvSpPr/>
          <p:nvPr/>
        </p:nvSpPr>
        <p:spPr>
          <a:xfrm>
            <a:off x="4663440" y="3648456"/>
            <a:ext cx="4114800" cy="749808"/>
          </a:xfrm>
          <a:prstGeom prst="roundRect">
            <a:avLst>
              <a:gd fmla="val 14634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2"/>
          <p:cNvSpPr/>
          <p:nvPr/>
        </p:nvSpPr>
        <p:spPr>
          <a:xfrm>
            <a:off x="4773168" y="3758184"/>
            <a:ext cx="4572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⭐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2"/>
          <p:cNvSpPr/>
          <p:nvPr/>
        </p:nvSpPr>
        <p:spPr>
          <a:xfrm>
            <a:off x="8001000" y="3849624"/>
            <a:ext cx="658368" cy="219456"/>
          </a:xfrm>
          <a:prstGeom prst="roundRect">
            <a:avLst>
              <a:gd fmla="val 50000" name="adj"/>
            </a:avLst>
          </a:prstGeom>
          <a:solidFill>
            <a:srgbClr val="0D8C8C"/>
          </a:solidFill>
          <a:ln cap="flat" cmpd="sng" w="12700">
            <a:solidFill>
              <a:srgbClr val="0D8C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2"/>
          <p:cNvSpPr/>
          <p:nvPr/>
        </p:nvSpPr>
        <p:spPr>
          <a:xfrm>
            <a:off x="8001000" y="3849624"/>
            <a:ext cx="65836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Number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2"/>
          <p:cNvSpPr/>
          <p:nvPr/>
        </p:nvSpPr>
        <p:spPr>
          <a:xfrm>
            <a:off x="5303520" y="3721608"/>
            <a:ext cx="2651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744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1A2744"/>
                </a:solidFill>
                <a:latin typeface="Cambria"/>
                <a:ea typeface="Cambria"/>
                <a:cs typeface="Cambria"/>
                <a:sym typeface="Cambria"/>
              </a:rPr>
              <a:t>Rating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2"/>
          <p:cNvSpPr/>
          <p:nvPr/>
        </p:nvSpPr>
        <p:spPr>
          <a:xfrm>
            <a:off x="5303520" y="3995928"/>
            <a:ext cx="2697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Customer satisfaction score  (4.0 – 10.0)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ef3ac6477c_0_0"/>
          <p:cNvSpPr txBox="1"/>
          <p:nvPr/>
        </p:nvSpPr>
        <p:spPr>
          <a:xfrm>
            <a:off x="326450" y="355475"/>
            <a:ext cx="7341900" cy="221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Group1 (Ade)</a:t>
            </a:r>
            <a:endParaRPr b="1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AutoNum type="arabicPeriod"/>
            </a:pPr>
            <a: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Which city has the highest total sales?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AutoNum type="arabicPeriod"/>
            </a:pPr>
            <a: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Do Members spend more than Normal customers?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AutoNum type="arabicPeriod"/>
            </a:pPr>
            <a: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Which customer type shops more frequently?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AutoNum type="arabicPeriod"/>
            </a:pPr>
            <a: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Do men or women spend more on average?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AutoNum type="arabicPeriod"/>
            </a:pPr>
            <a: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Which product line earns the most total revenue?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AutoNum type="arabicPeriod"/>
            </a:pPr>
            <a: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What is the average sale amount overall?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AutoNum type="arabicPeriod"/>
            </a:pPr>
            <a: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What is the most common payment method?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ef5a731375_0_0"/>
          <p:cNvSpPr txBox="1"/>
          <p:nvPr/>
        </p:nvSpPr>
        <p:spPr>
          <a:xfrm>
            <a:off x="346375" y="650800"/>
            <a:ext cx="5914200" cy="152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845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AutoNum type="arabicPeriod"/>
            </a:pPr>
            <a: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Which city has the most transactions?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AutoNum type="arabicPeriod"/>
            </a:pPr>
            <a: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Do Members rate their experience higher than Normal customers?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AutoNum type="arabicPeriod"/>
            </a:pPr>
            <a: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Which product line do women buy most?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AutoNum type="arabicPeriod"/>
            </a:pPr>
            <a: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Which product line has the most transactions?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AutoNum type="arabicPeriod"/>
            </a:pPr>
            <a: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What is the highest single sale in the dataset?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AutoNum type="arabicPeriod"/>
            </a:pPr>
            <a: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How many transactions are above $500?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AutoNum type="arabicPeriod"/>
            </a:pPr>
            <a: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Which product line gets the worst average rating?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g3ef5a731375_0_0"/>
          <p:cNvSpPr txBox="1"/>
          <p:nvPr/>
        </p:nvSpPr>
        <p:spPr>
          <a:xfrm>
            <a:off x="781275" y="92975"/>
            <a:ext cx="6046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Group 02 (Mikaela)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ef5a731375_0_6"/>
          <p:cNvSpPr txBox="1"/>
          <p:nvPr/>
        </p:nvSpPr>
        <p:spPr>
          <a:xfrm>
            <a:off x="430375" y="1385600"/>
            <a:ext cx="5536500" cy="152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845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AutoNum type="arabicPeriod"/>
            </a:pPr>
            <a: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Which city has the highest average sale per customer?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AutoNum type="arabicPeriod"/>
            </a:pPr>
            <a: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Which product line do Members buy most?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AutoNum type="arabicPeriod"/>
            </a:pPr>
            <a: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Which gender gives higher ratings?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AutoNum type="arabicPeriod"/>
            </a:pPr>
            <a: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Which product line has the highest average sale per purchase?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AutoNum type="arabicPeriod"/>
            </a:pPr>
            <a: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Which payment method leads to the highest average sale?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AutoNum type="arabicPeriod"/>
            </a:pPr>
            <a: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How many transactions received a rating above 8?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AutoNum type="arabicPeriod"/>
            </a:pPr>
            <a: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Which product line sells the highest quantity per transaction?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g3ef5a731375_0_6"/>
          <p:cNvSpPr txBox="1"/>
          <p:nvPr/>
        </p:nvSpPr>
        <p:spPr>
          <a:xfrm>
            <a:off x="466375" y="428875"/>
            <a:ext cx="6046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Group 03(Anniyah)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ef5a731375_0_10"/>
          <p:cNvSpPr txBox="1"/>
          <p:nvPr/>
        </p:nvSpPr>
        <p:spPr>
          <a:xfrm>
            <a:off x="105000" y="1133675"/>
            <a:ext cx="6900900" cy="152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845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AutoNum type="arabicPeriod"/>
            </a:pPr>
            <a: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Which city has the best average customer rating?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AutoNum type="arabicPeriod"/>
            </a:pPr>
            <a: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Which product line do men buy most?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AutoNum type="arabicPeriod"/>
            </a:pPr>
            <a: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Which gender uses Ewallet most?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AutoNum type="arabicPeriod"/>
            </a:pPr>
            <a: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What is the lowest single sale in the dataset?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AutoNum type="arabicPeriod"/>
            </a:pPr>
            <a: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What percentage of customers are Members vs Normal?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AutoNum type="arabicPeriod"/>
            </a:pPr>
            <a: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What is the total revenue across all 1,000 transactions?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AutoNum type="arabicPeriod"/>
            </a:pPr>
            <a: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Which payment method gets the best ratings?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g3ef5a731375_0_10"/>
          <p:cNvSpPr txBox="1"/>
          <p:nvPr/>
        </p:nvSpPr>
        <p:spPr>
          <a:xfrm>
            <a:off x="242680" y="352155"/>
            <a:ext cx="6046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Group-04 (Noble)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A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5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E8A020"/>
          </a:solidFill>
          <a:ln cap="flat" cmpd="sng" w="12700">
            <a:solidFill>
              <a:srgbClr val="E8A0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5"/>
          <p:cNvSpPr/>
          <p:nvPr/>
        </p:nvSpPr>
        <p:spPr>
          <a:xfrm>
            <a:off x="457200" y="91440"/>
            <a:ext cx="8229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744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1A2744"/>
                </a:solidFill>
                <a:latin typeface="Cambria"/>
                <a:ea typeface="Cambria"/>
                <a:cs typeface="Cambria"/>
                <a:sym typeface="Cambria"/>
              </a:rPr>
              <a:t>📋  Presentation Format — What Every Group Must Include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5"/>
          <p:cNvSpPr/>
          <p:nvPr/>
        </p:nvSpPr>
        <p:spPr>
          <a:xfrm>
            <a:off x="228600" y="1097280"/>
            <a:ext cx="5120640" cy="3794760"/>
          </a:xfrm>
          <a:prstGeom prst="roundRect">
            <a:avLst>
              <a:gd fmla="val 2892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5"/>
          <p:cNvSpPr/>
          <p:nvPr/>
        </p:nvSpPr>
        <p:spPr>
          <a:xfrm>
            <a:off x="411480" y="1188720"/>
            <a:ext cx="47548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744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1A2744"/>
                </a:solidFill>
                <a:latin typeface="Cambria"/>
                <a:ea typeface="Cambria"/>
                <a:cs typeface="Cambria"/>
                <a:sym typeface="Cambria"/>
              </a:rPr>
              <a:t>📑  Required Slides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5"/>
          <p:cNvSpPr/>
          <p:nvPr/>
        </p:nvSpPr>
        <p:spPr>
          <a:xfrm>
            <a:off x="365760" y="1627632"/>
            <a:ext cx="365760" cy="365760"/>
          </a:xfrm>
          <a:prstGeom prst="roundRect">
            <a:avLst>
              <a:gd fmla="val 20000" name="adj"/>
            </a:avLst>
          </a:prstGeom>
          <a:solidFill>
            <a:srgbClr val="1A2744"/>
          </a:solidFill>
          <a:ln cap="flat" cmpd="sng" w="12700">
            <a:solidFill>
              <a:srgbClr val="1A27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5"/>
          <p:cNvSpPr/>
          <p:nvPr/>
        </p:nvSpPr>
        <p:spPr>
          <a:xfrm>
            <a:off x="365760" y="1627632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5"/>
          <p:cNvSpPr/>
          <p:nvPr/>
        </p:nvSpPr>
        <p:spPr>
          <a:xfrm>
            <a:off x="841248" y="1645920"/>
            <a:ext cx="4343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744"/>
              </a:buClr>
              <a:buSzPts val="1100"/>
              <a:buFont typeface="Cambria"/>
              <a:buNone/>
            </a:pPr>
            <a:r>
              <a:rPr b="1" i="0" lang="en-US" sz="1100" u="none" cap="none" strike="noStrike">
                <a:solidFill>
                  <a:srgbClr val="1A2744"/>
                </a:solidFill>
                <a:latin typeface="Cambria"/>
                <a:ea typeface="Cambria"/>
                <a:cs typeface="Cambria"/>
                <a:sym typeface="Cambria"/>
              </a:rPr>
              <a:t>Title Slide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5"/>
          <p:cNvSpPr/>
          <p:nvPr/>
        </p:nvSpPr>
        <p:spPr>
          <a:xfrm>
            <a:off x="841248" y="1828800"/>
            <a:ext cx="4343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Group name, members, date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5"/>
          <p:cNvSpPr/>
          <p:nvPr/>
        </p:nvSpPr>
        <p:spPr>
          <a:xfrm>
            <a:off x="365760" y="2267712"/>
            <a:ext cx="365760" cy="365760"/>
          </a:xfrm>
          <a:prstGeom prst="roundRect">
            <a:avLst>
              <a:gd fmla="val 20000" name="adj"/>
            </a:avLst>
          </a:prstGeom>
          <a:solidFill>
            <a:srgbClr val="1A2744"/>
          </a:solidFill>
          <a:ln cap="flat" cmpd="sng" w="12700">
            <a:solidFill>
              <a:srgbClr val="1A27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5"/>
          <p:cNvSpPr/>
          <p:nvPr/>
        </p:nvSpPr>
        <p:spPr>
          <a:xfrm>
            <a:off x="365760" y="2267712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5"/>
          <p:cNvSpPr/>
          <p:nvPr/>
        </p:nvSpPr>
        <p:spPr>
          <a:xfrm>
            <a:off x="841248" y="2286000"/>
            <a:ext cx="4343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744"/>
              </a:buClr>
              <a:buSzPts val="1100"/>
              <a:buFont typeface="Cambria"/>
              <a:buNone/>
            </a:pPr>
            <a:r>
              <a:rPr b="1" i="0" lang="en-US" sz="1100" u="none" cap="none" strike="noStrike">
                <a:solidFill>
                  <a:srgbClr val="1A2744"/>
                </a:solidFill>
                <a:latin typeface="Cambria"/>
                <a:ea typeface="Cambria"/>
                <a:cs typeface="Cambria"/>
                <a:sym typeface="Cambria"/>
              </a:rPr>
              <a:t>About the Dataset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5"/>
          <p:cNvSpPr/>
          <p:nvPr/>
        </p:nvSpPr>
        <p:spPr>
          <a:xfrm>
            <a:off x="841248" y="2468880"/>
            <a:ext cx="4343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What it is, how many rows, what columns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5"/>
          <p:cNvSpPr/>
          <p:nvPr/>
        </p:nvSpPr>
        <p:spPr>
          <a:xfrm>
            <a:off x="365760" y="2907792"/>
            <a:ext cx="365760" cy="365760"/>
          </a:xfrm>
          <a:prstGeom prst="roundRect">
            <a:avLst>
              <a:gd fmla="val 20000" name="adj"/>
            </a:avLst>
          </a:prstGeom>
          <a:solidFill>
            <a:srgbClr val="1A2744"/>
          </a:solidFill>
          <a:ln cap="flat" cmpd="sng" w="12700">
            <a:solidFill>
              <a:srgbClr val="1A27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5"/>
          <p:cNvSpPr/>
          <p:nvPr/>
        </p:nvSpPr>
        <p:spPr>
          <a:xfrm>
            <a:off x="365760" y="2907792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3–5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5"/>
          <p:cNvSpPr/>
          <p:nvPr/>
        </p:nvSpPr>
        <p:spPr>
          <a:xfrm>
            <a:off x="841248" y="2926080"/>
            <a:ext cx="4343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744"/>
              </a:buClr>
              <a:buSzPts val="1100"/>
              <a:buFont typeface="Cambria"/>
              <a:buNone/>
            </a:pPr>
            <a:r>
              <a:rPr b="1" i="0" lang="en-US" sz="1100" u="none" cap="none" strike="noStrike">
                <a:solidFill>
                  <a:srgbClr val="1A2744"/>
                </a:solidFill>
                <a:latin typeface="Cambria"/>
                <a:ea typeface="Cambria"/>
                <a:cs typeface="Cambria"/>
                <a:sym typeface="Cambria"/>
              </a:rPr>
              <a:t>Your 3 Findings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5"/>
          <p:cNvSpPr/>
          <p:nvPr/>
        </p:nvSpPr>
        <p:spPr>
          <a:xfrm>
            <a:off x="841248" y="3108960"/>
            <a:ext cx="4343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One slide per question — chart + 1-sentence insight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5"/>
          <p:cNvSpPr/>
          <p:nvPr/>
        </p:nvSpPr>
        <p:spPr>
          <a:xfrm>
            <a:off x="365760" y="3547872"/>
            <a:ext cx="365760" cy="365760"/>
          </a:xfrm>
          <a:prstGeom prst="roundRect">
            <a:avLst>
              <a:gd fmla="val 20000" name="adj"/>
            </a:avLst>
          </a:prstGeom>
          <a:solidFill>
            <a:srgbClr val="1A2744"/>
          </a:solidFill>
          <a:ln cap="flat" cmpd="sng" w="12700">
            <a:solidFill>
              <a:srgbClr val="1A27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5"/>
          <p:cNvSpPr/>
          <p:nvPr/>
        </p:nvSpPr>
        <p:spPr>
          <a:xfrm>
            <a:off x="365760" y="3547872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5"/>
          <p:cNvSpPr/>
          <p:nvPr/>
        </p:nvSpPr>
        <p:spPr>
          <a:xfrm>
            <a:off x="841248" y="3566160"/>
            <a:ext cx="4343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744"/>
              </a:buClr>
              <a:buSzPts val="1100"/>
              <a:buFont typeface="Cambria"/>
              <a:buNone/>
            </a:pPr>
            <a:r>
              <a:rPr b="1" i="0" lang="en-US" sz="1100" u="none" cap="none" strike="noStrike">
                <a:solidFill>
                  <a:srgbClr val="1A2744"/>
                </a:solidFill>
                <a:latin typeface="Cambria"/>
                <a:ea typeface="Cambria"/>
                <a:cs typeface="Cambria"/>
                <a:sym typeface="Cambria"/>
              </a:rPr>
              <a:t>Most Surprising Thing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5"/>
          <p:cNvSpPr/>
          <p:nvPr/>
        </p:nvSpPr>
        <p:spPr>
          <a:xfrm>
            <a:off x="841248" y="3749040"/>
            <a:ext cx="4343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What did you NOT expect to find?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5"/>
          <p:cNvSpPr/>
          <p:nvPr/>
        </p:nvSpPr>
        <p:spPr>
          <a:xfrm>
            <a:off x="365760" y="4187952"/>
            <a:ext cx="365760" cy="365760"/>
          </a:xfrm>
          <a:prstGeom prst="roundRect">
            <a:avLst>
              <a:gd fmla="val 20000" name="adj"/>
            </a:avLst>
          </a:prstGeom>
          <a:solidFill>
            <a:srgbClr val="1A2744"/>
          </a:solidFill>
          <a:ln cap="flat" cmpd="sng" w="12700">
            <a:solidFill>
              <a:srgbClr val="1A27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5"/>
          <p:cNvSpPr/>
          <p:nvPr/>
        </p:nvSpPr>
        <p:spPr>
          <a:xfrm>
            <a:off x="365760" y="4187952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5"/>
          <p:cNvSpPr/>
          <p:nvPr/>
        </p:nvSpPr>
        <p:spPr>
          <a:xfrm>
            <a:off x="841248" y="4206240"/>
            <a:ext cx="4343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744"/>
              </a:buClr>
              <a:buSzPts val="1100"/>
              <a:buFont typeface="Cambria"/>
              <a:buNone/>
            </a:pPr>
            <a:r>
              <a:rPr b="1" i="0" lang="en-US" sz="1100" u="none" cap="none" strike="noStrike">
                <a:solidFill>
                  <a:srgbClr val="1A2744"/>
                </a:solidFill>
                <a:latin typeface="Cambria"/>
                <a:ea typeface="Cambria"/>
                <a:cs typeface="Cambria"/>
                <a:sym typeface="Cambria"/>
              </a:rPr>
              <a:t>Conclusion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5"/>
          <p:cNvSpPr/>
          <p:nvPr/>
        </p:nvSpPr>
        <p:spPr>
          <a:xfrm>
            <a:off x="841248" y="4389120"/>
            <a:ext cx="4343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What did you learn? What would you study next?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5"/>
          <p:cNvSpPr/>
          <p:nvPr/>
        </p:nvSpPr>
        <p:spPr>
          <a:xfrm>
            <a:off x="5577840" y="1097280"/>
            <a:ext cx="3337560" cy="3794760"/>
          </a:xfrm>
          <a:prstGeom prst="roundRect">
            <a:avLst>
              <a:gd fmla="val 3288" name="adj"/>
            </a:avLst>
          </a:prstGeom>
          <a:solidFill>
            <a:srgbClr val="FFF8E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5"/>
          <p:cNvSpPr/>
          <p:nvPr/>
        </p:nvSpPr>
        <p:spPr>
          <a:xfrm>
            <a:off x="5760720" y="1170432"/>
            <a:ext cx="30175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744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1A2744"/>
                </a:solidFill>
                <a:latin typeface="Cambria"/>
                <a:ea typeface="Cambria"/>
                <a:cs typeface="Cambria"/>
                <a:sym typeface="Cambria"/>
              </a:rPr>
              <a:t>✅  Rules for Every Chart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5"/>
          <p:cNvSpPr/>
          <p:nvPr/>
        </p:nvSpPr>
        <p:spPr>
          <a:xfrm>
            <a:off x="5687568" y="1609344"/>
            <a:ext cx="2743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8C8C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0D8C8C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5"/>
          <p:cNvSpPr/>
          <p:nvPr/>
        </p:nvSpPr>
        <p:spPr>
          <a:xfrm>
            <a:off x="5989320" y="1591056"/>
            <a:ext cx="27889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744"/>
              </a:buClr>
              <a:buSzPts val="1050"/>
              <a:buFont typeface="Cambria"/>
              <a:buNone/>
            </a:pPr>
            <a:r>
              <a:rPr b="1" i="0" lang="en-US" sz="1050" u="none" cap="none" strike="noStrike">
                <a:solidFill>
                  <a:srgbClr val="1A2744"/>
                </a:solidFill>
                <a:latin typeface="Cambria"/>
                <a:ea typeface="Cambria"/>
                <a:cs typeface="Cambria"/>
                <a:sym typeface="Cambria"/>
              </a:rPr>
              <a:t>Must have a title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5"/>
          <p:cNvSpPr/>
          <p:nvPr/>
        </p:nvSpPr>
        <p:spPr>
          <a:xfrm>
            <a:off x="5989320" y="1792224"/>
            <a:ext cx="2788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e.g. 'Total Sales by City'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5"/>
          <p:cNvSpPr/>
          <p:nvPr/>
        </p:nvSpPr>
        <p:spPr>
          <a:xfrm>
            <a:off x="5687568" y="2212848"/>
            <a:ext cx="2743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8C8C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0D8C8C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5"/>
          <p:cNvSpPr/>
          <p:nvPr/>
        </p:nvSpPr>
        <p:spPr>
          <a:xfrm>
            <a:off x="5989320" y="2194560"/>
            <a:ext cx="27889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744"/>
              </a:buClr>
              <a:buSzPts val="1050"/>
              <a:buFont typeface="Cambria"/>
              <a:buNone/>
            </a:pPr>
            <a:r>
              <a:rPr b="1" i="0" lang="en-US" sz="1050" u="none" cap="none" strike="noStrike">
                <a:solidFill>
                  <a:srgbClr val="1A2744"/>
                </a:solidFill>
                <a:latin typeface="Cambria"/>
                <a:ea typeface="Cambria"/>
                <a:cs typeface="Cambria"/>
                <a:sym typeface="Cambria"/>
              </a:rPr>
              <a:t>Label your axes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5"/>
          <p:cNvSpPr/>
          <p:nvPr/>
        </p:nvSpPr>
        <p:spPr>
          <a:xfrm>
            <a:off x="5989320" y="2395728"/>
            <a:ext cx="2788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What does each axis measure?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5"/>
          <p:cNvSpPr/>
          <p:nvPr/>
        </p:nvSpPr>
        <p:spPr>
          <a:xfrm>
            <a:off x="5687568" y="2816352"/>
            <a:ext cx="2743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8C8C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0D8C8C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5"/>
          <p:cNvSpPr/>
          <p:nvPr/>
        </p:nvSpPr>
        <p:spPr>
          <a:xfrm>
            <a:off x="5989320" y="2798064"/>
            <a:ext cx="27889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744"/>
              </a:buClr>
              <a:buSzPts val="1050"/>
              <a:buFont typeface="Cambria"/>
              <a:buNone/>
            </a:pPr>
            <a:r>
              <a:rPr b="1" i="0" lang="en-US" sz="1050" u="none" cap="none" strike="noStrike">
                <a:solidFill>
                  <a:srgbClr val="1A2744"/>
                </a:solidFill>
                <a:latin typeface="Cambria"/>
                <a:ea typeface="Cambria"/>
                <a:cs typeface="Cambria"/>
                <a:sym typeface="Cambria"/>
              </a:rPr>
              <a:t>Add one insight sentence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5"/>
          <p:cNvSpPr/>
          <p:nvPr/>
        </p:nvSpPr>
        <p:spPr>
          <a:xfrm>
            <a:off x="5989320" y="2999232"/>
            <a:ext cx="2788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Don't just show numbers — explain them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5"/>
          <p:cNvSpPr/>
          <p:nvPr/>
        </p:nvSpPr>
        <p:spPr>
          <a:xfrm>
            <a:off x="5687568" y="3419856"/>
            <a:ext cx="2743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8C8C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0D8C8C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5"/>
          <p:cNvSpPr/>
          <p:nvPr/>
        </p:nvSpPr>
        <p:spPr>
          <a:xfrm>
            <a:off x="5989320" y="3401568"/>
            <a:ext cx="27889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744"/>
              </a:buClr>
              <a:buSzPts val="1050"/>
              <a:buFont typeface="Cambria"/>
              <a:buNone/>
            </a:pPr>
            <a:r>
              <a:rPr b="1" i="0" lang="en-US" sz="1050" u="none" cap="none" strike="noStrike">
                <a:solidFill>
                  <a:srgbClr val="1A2744"/>
                </a:solidFill>
                <a:latin typeface="Cambria"/>
                <a:ea typeface="Cambria"/>
                <a:cs typeface="Cambria"/>
                <a:sym typeface="Cambria"/>
              </a:rPr>
              <a:t>Compare groups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5"/>
          <p:cNvSpPr/>
          <p:nvPr/>
        </p:nvSpPr>
        <p:spPr>
          <a:xfrm>
            <a:off x="5989320" y="3602736"/>
            <a:ext cx="2788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City vs city, member vs guest…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5"/>
          <p:cNvSpPr/>
          <p:nvPr/>
        </p:nvSpPr>
        <p:spPr>
          <a:xfrm>
            <a:off x="5687568" y="4023360"/>
            <a:ext cx="2743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8C8C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0D8C8C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5"/>
          <p:cNvSpPr/>
          <p:nvPr/>
        </p:nvSpPr>
        <p:spPr>
          <a:xfrm>
            <a:off x="5989320" y="4005072"/>
            <a:ext cx="27889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744"/>
              </a:buClr>
              <a:buSzPts val="1050"/>
              <a:buFont typeface="Cambria"/>
              <a:buNone/>
            </a:pPr>
            <a:r>
              <a:rPr b="1" i="0" lang="en-US" sz="1050" u="none" cap="none" strike="noStrike">
                <a:solidFill>
                  <a:srgbClr val="1A2744"/>
                </a:solidFill>
                <a:latin typeface="Cambria"/>
                <a:ea typeface="Cambria"/>
                <a:cs typeface="Cambria"/>
                <a:sym typeface="Cambria"/>
              </a:rPr>
              <a:t>No copy-paste of raw data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5"/>
          <p:cNvSpPr/>
          <p:nvPr/>
        </p:nvSpPr>
        <p:spPr>
          <a:xfrm>
            <a:off x="5989320" y="4206240"/>
            <a:ext cx="2788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Charts only — no giant tables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5"/>
          <p:cNvSpPr/>
          <p:nvPr/>
        </p:nvSpPr>
        <p:spPr>
          <a:xfrm>
            <a:off x="228600" y="4663440"/>
            <a:ext cx="8686800" cy="347472"/>
          </a:xfrm>
          <a:prstGeom prst="roundRect">
            <a:avLst>
              <a:gd fmla="val 26316" name="adj"/>
            </a:avLst>
          </a:prstGeom>
          <a:solidFill>
            <a:srgbClr val="1A2744"/>
          </a:solidFill>
          <a:ln cap="flat" cmpd="sng" w="12700">
            <a:solidFill>
              <a:srgbClr val="1A27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5"/>
          <p:cNvSpPr/>
          <p:nvPr/>
        </p:nvSpPr>
        <p:spPr>
          <a:xfrm>
            <a:off x="228600" y="4663440"/>
            <a:ext cx="86868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⏱  Time: 5–7 minutes to present  ·  All group members must speak  ·  Be ready for 2 questions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2026-06-24T22:38:47Z</dcterms:created>
  <dc:creator>PptxGenJS</dc:creator>
</cp:coreProperties>
</file>